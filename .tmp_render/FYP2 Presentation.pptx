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" charset="1" panose="00000000000000000000"/>
      <p:regular r:id="rId16"/>
    </p:embeddedFont>
    <p:embeddedFont>
      <p:font typeface="Aileron" charset="1" panose="00000500000000000000"/>
      <p:regular r:id="rId17"/>
    </p:embeddedFont>
    <p:embeddedFont>
      <p:font typeface="Aileron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31783" y="1023938"/>
            <a:ext cx="18551567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171426" y="371475"/>
            <a:ext cx="638645" cy="365769"/>
          </a:xfrm>
          <a:custGeom>
            <a:avLst/>
            <a:gdLst/>
            <a:ahLst/>
            <a:cxnLst/>
            <a:rect r="r" b="b" t="t" l="l"/>
            <a:pathLst>
              <a:path h="365769" w="638645">
                <a:moveTo>
                  <a:pt x="0" y="0"/>
                </a:moveTo>
                <a:lnTo>
                  <a:pt x="638645" y="0"/>
                </a:lnTo>
                <a:lnTo>
                  <a:pt x="638645" y="365769"/>
                </a:lnTo>
                <a:lnTo>
                  <a:pt x="0" y="3657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7929" y="3165338"/>
            <a:ext cx="17332142" cy="367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-6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MACHINE LEARNING BASED</a:t>
            </a:r>
          </a:p>
          <a:p>
            <a:pPr algn="ctr">
              <a:lnSpc>
                <a:spcPts val="9799"/>
              </a:lnSpc>
            </a:pPr>
            <a:r>
              <a:rPr lang="en-US" sz="6999" spc="-6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MALICIOUS WEBSITE</a:t>
            </a:r>
          </a:p>
          <a:p>
            <a:pPr algn="ctr">
              <a:lnSpc>
                <a:spcPts val="9799"/>
              </a:lnSpc>
            </a:pPr>
            <a:r>
              <a:rPr lang="en-US" sz="6999" spc="-6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DETECTION &amp; RESPONSE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1196" y="7083288"/>
            <a:ext cx="1642810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5F5F5"/>
                </a:solidFill>
                <a:latin typeface="Garet"/>
                <a:ea typeface="Garet"/>
                <a:cs typeface="Garet"/>
                <a:sym typeface="Garet"/>
              </a:rPr>
              <a:t>Bachelor of Information Technology (Hons.) (Security Technology) | FYP2 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6574" y="7789607"/>
            <a:ext cx="1614272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Chong You Xin  | 1211108623 | FIST | Supervisor: Prof. Ts. Dr. Heng Swee Huay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7929" y="323850"/>
            <a:ext cx="37660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5F5F5"/>
                </a:solidFill>
                <a:latin typeface="Aileron Bold"/>
                <a:ea typeface="Aileron Bold"/>
                <a:cs typeface="Aileron Bold"/>
                <a:sym typeface="Aileron Bold"/>
              </a:rPr>
              <a:t>Multimedia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31783" y="1023938"/>
            <a:ext cx="18551567" cy="0"/>
          </a:xfrm>
          <a:prstGeom prst="line">
            <a:avLst/>
          </a:prstGeom>
          <a:ln cap="flat" w="9525">
            <a:solidFill>
              <a:srgbClr val="0E0E0E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171426" y="371475"/>
            <a:ext cx="638645" cy="365769"/>
          </a:xfrm>
          <a:custGeom>
            <a:avLst/>
            <a:gdLst/>
            <a:ahLst/>
            <a:cxnLst/>
            <a:rect r="r" b="b" t="t" l="l"/>
            <a:pathLst>
              <a:path h="365769" w="638645">
                <a:moveTo>
                  <a:pt x="0" y="0"/>
                </a:moveTo>
                <a:lnTo>
                  <a:pt x="638645" y="0"/>
                </a:lnTo>
                <a:lnTo>
                  <a:pt x="638645" y="365769"/>
                </a:lnTo>
                <a:lnTo>
                  <a:pt x="0" y="365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640150"/>
            <a:ext cx="9706627" cy="5618150"/>
            <a:chOff x="0" y="0"/>
            <a:chExt cx="2865676" cy="165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65676" cy="1658640"/>
            </a:xfrm>
            <a:custGeom>
              <a:avLst/>
              <a:gdLst/>
              <a:ahLst/>
              <a:cxnLst/>
              <a:rect r="r" b="b" t="t" l="l"/>
              <a:pathLst>
                <a:path h="1658640" w="2865676">
                  <a:moveTo>
                    <a:pt x="31904" y="0"/>
                  </a:moveTo>
                  <a:lnTo>
                    <a:pt x="2833773" y="0"/>
                  </a:lnTo>
                  <a:cubicBezTo>
                    <a:pt x="2842234" y="0"/>
                    <a:pt x="2850349" y="3361"/>
                    <a:pt x="2856332" y="9344"/>
                  </a:cubicBezTo>
                  <a:cubicBezTo>
                    <a:pt x="2862315" y="15327"/>
                    <a:pt x="2865676" y="23442"/>
                    <a:pt x="2865676" y="31904"/>
                  </a:cubicBezTo>
                  <a:lnTo>
                    <a:pt x="2865676" y="1626736"/>
                  </a:lnTo>
                  <a:cubicBezTo>
                    <a:pt x="2865676" y="1644356"/>
                    <a:pt x="2851392" y="1658640"/>
                    <a:pt x="2833773" y="1658640"/>
                  </a:cubicBezTo>
                  <a:lnTo>
                    <a:pt x="31904" y="1658640"/>
                  </a:lnTo>
                  <a:cubicBezTo>
                    <a:pt x="14284" y="1658640"/>
                    <a:pt x="0" y="1644356"/>
                    <a:pt x="0" y="1626736"/>
                  </a:cubicBezTo>
                  <a:lnTo>
                    <a:pt x="0" y="31904"/>
                  </a:lnTo>
                  <a:cubicBezTo>
                    <a:pt x="0" y="14284"/>
                    <a:pt x="14284" y="0"/>
                    <a:pt x="31904" y="0"/>
                  </a:cubicBezTo>
                  <a:close/>
                </a:path>
              </a:pathLst>
            </a:custGeom>
            <a:blipFill>
              <a:blip r:embed="rId4"/>
              <a:stretch>
                <a:fillRect l="-8170" t="0" r="-817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1871" y="1230865"/>
            <a:ext cx="10053456" cy="2409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92"/>
              </a:lnSpc>
            </a:pPr>
            <a:r>
              <a:rPr lang="en-US" sz="14066" spc="-1237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Introduction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85099" y="992267"/>
            <a:ext cx="6605649" cy="4008358"/>
            <a:chOff x="0" y="0"/>
            <a:chExt cx="1739759" cy="10556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9759" cy="1055699"/>
            </a:xfrm>
            <a:custGeom>
              <a:avLst/>
              <a:gdLst/>
              <a:ahLst/>
              <a:cxnLst/>
              <a:rect r="r" b="b" t="t" l="l"/>
              <a:pathLst>
                <a:path h="1055699" w="1739759">
                  <a:moveTo>
                    <a:pt x="46881" y="0"/>
                  </a:moveTo>
                  <a:lnTo>
                    <a:pt x="1692879" y="0"/>
                  </a:lnTo>
                  <a:cubicBezTo>
                    <a:pt x="1705312" y="0"/>
                    <a:pt x="1717236" y="4939"/>
                    <a:pt x="1726028" y="13731"/>
                  </a:cubicBezTo>
                  <a:cubicBezTo>
                    <a:pt x="1734820" y="22523"/>
                    <a:pt x="1739759" y="34447"/>
                    <a:pt x="1739759" y="46881"/>
                  </a:cubicBezTo>
                  <a:lnTo>
                    <a:pt x="1739759" y="1008819"/>
                  </a:lnTo>
                  <a:cubicBezTo>
                    <a:pt x="1739759" y="1021252"/>
                    <a:pt x="1734820" y="1033176"/>
                    <a:pt x="1726028" y="1041968"/>
                  </a:cubicBezTo>
                  <a:cubicBezTo>
                    <a:pt x="1717236" y="1050760"/>
                    <a:pt x="1705312" y="1055699"/>
                    <a:pt x="1692879" y="1055699"/>
                  </a:cubicBezTo>
                  <a:lnTo>
                    <a:pt x="46881" y="1055699"/>
                  </a:lnTo>
                  <a:cubicBezTo>
                    <a:pt x="20989" y="1055699"/>
                    <a:pt x="0" y="1034710"/>
                    <a:pt x="0" y="1008819"/>
                  </a:cubicBezTo>
                  <a:lnTo>
                    <a:pt x="0" y="46881"/>
                  </a:lnTo>
                  <a:cubicBezTo>
                    <a:pt x="0" y="34447"/>
                    <a:pt x="4939" y="22523"/>
                    <a:pt x="13731" y="13731"/>
                  </a:cubicBezTo>
                  <a:cubicBezTo>
                    <a:pt x="22523" y="4939"/>
                    <a:pt x="34447" y="0"/>
                    <a:pt x="46881" y="0"/>
                  </a:cubicBezTo>
                  <a:close/>
                </a:path>
              </a:pathLst>
            </a:custGeom>
            <a:solidFill>
              <a:srgbClr val="E7E7E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739759" cy="1103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77929" y="323850"/>
            <a:ext cx="37660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Multimedia University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187081" y="1367201"/>
            <a:ext cx="6001686" cy="3258491"/>
            <a:chOff x="0" y="0"/>
            <a:chExt cx="8002247" cy="434465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05563"/>
              <a:ext cx="8002247" cy="3739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Impersonates trusted brands to </a:t>
              </a:r>
              <a:r>
                <a:rPr lang="en-US" b="true" sz="2000">
                  <a:solidFill>
                    <a:srgbClr val="0E0E0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steal user credentials, financial data, and spread malware.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Malicious URLs </a:t>
              </a:r>
              <a:r>
                <a:rPr lang="en-US" b="true" sz="2000">
                  <a:solidFill>
                    <a:srgbClr val="0E0E0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proliferate rapidly 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- bypassing traditional blacklist-based detection systems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New phishing domains are </a:t>
              </a:r>
              <a:r>
                <a:rPr lang="en-US" b="true" sz="2000">
                  <a:solidFill>
                    <a:srgbClr val="0E0E0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registered daily - 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 static databases insufficient for real-time protection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4534921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0E0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Phishing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85099" y="5286375"/>
            <a:ext cx="6605649" cy="4008358"/>
            <a:chOff x="0" y="0"/>
            <a:chExt cx="1739759" cy="10556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39759" cy="1055699"/>
            </a:xfrm>
            <a:custGeom>
              <a:avLst/>
              <a:gdLst/>
              <a:ahLst/>
              <a:cxnLst/>
              <a:rect r="r" b="b" t="t" l="l"/>
              <a:pathLst>
                <a:path h="1055699" w="1739759">
                  <a:moveTo>
                    <a:pt x="46881" y="0"/>
                  </a:moveTo>
                  <a:lnTo>
                    <a:pt x="1692879" y="0"/>
                  </a:lnTo>
                  <a:cubicBezTo>
                    <a:pt x="1705312" y="0"/>
                    <a:pt x="1717236" y="4939"/>
                    <a:pt x="1726028" y="13731"/>
                  </a:cubicBezTo>
                  <a:cubicBezTo>
                    <a:pt x="1734820" y="22523"/>
                    <a:pt x="1739759" y="34447"/>
                    <a:pt x="1739759" y="46881"/>
                  </a:cubicBezTo>
                  <a:lnTo>
                    <a:pt x="1739759" y="1008819"/>
                  </a:lnTo>
                  <a:cubicBezTo>
                    <a:pt x="1739759" y="1021252"/>
                    <a:pt x="1734820" y="1033176"/>
                    <a:pt x="1726028" y="1041968"/>
                  </a:cubicBezTo>
                  <a:cubicBezTo>
                    <a:pt x="1717236" y="1050760"/>
                    <a:pt x="1705312" y="1055699"/>
                    <a:pt x="1692879" y="1055699"/>
                  </a:cubicBezTo>
                  <a:lnTo>
                    <a:pt x="46881" y="1055699"/>
                  </a:lnTo>
                  <a:cubicBezTo>
                    <a:pt x="20989" y="1055699"/>
                    <a:pt x="0" y="1034710"/>
                    <a:pt x="0" y="1008819"/>
                  </a:cubicBezTo>
                  <a:lnTo>
                    <a:pt x="0" y="46881"/>
                  </a:lnTo>
                  <a:cubicBezTo>
                    <a:pt x="0" y="34447"/>
                    <a:pt x="4939" y="22523"/>
                    <a:pt x="13731" y="13731"/>
                  </a:cubicBezTo>
                  <a:cubicBezTo>
                    <a:pt x="22523" y="4939"/>
                    <a:pt x="34447" y="0"/>
                    <a:pt x="46881" y="0"/>
                  </a:cubicBezTo>
                  <a:close/>
                </a:path>
              </a:pathLst>
            </a:custGeom>
            <a:solidFill>
              <a:srgbClr val="E7E7E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739759" cy="1103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87081" y="5661308"/>
            <a:ext cx="6001686" cy="3258491"/>
            <a:chOff x="0" y="0"/>
            <a:chExt cx="8002247" cy="434465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605563"/>
              <a:ext cx="8002247" cy="3739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Users require early, real-time warnings while browsing - pr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e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v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e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nt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 credential 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the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ft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Brow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s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e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r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-int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e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gr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a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te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d 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det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e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ction 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pro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v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i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d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e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s 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t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h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e 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most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b="true" sz="2000">
                  <a:solidFill>
                    <a:srgbClr val="0E0E0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immediate layer of protection 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at the point of risk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Machine learning enables </a:t>
              </a:r>
              <a:r>
                <a:rPr lang="en-US" b="true" sz="2000">
                  <a:solidFill>
                    <a:srgbClr val="0E0E0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dynamic, pattern-based detection 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be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y</a:t>
              </a: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ond static blacklists, adapting to new and unseen threats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47625"/>
              <a:ext cx="4534921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0E0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Why detection matters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31783" y="1023938"/>
            <a:ext cx="18551567" cy="0"/>
          </a:xfrm>
          <a:prstGeom prst="line">
            <a:avLst/>
          </a:prstGeom>
          <a:ln cap="flat" w="9525">
            <a:solidFill>
              <a:srgbClr val="0E0E0E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171426" y="371475"/>
            <a:ext cx="638645" cy="365769"/>
          </a:xfrm>
          <a:custGeom>
            <a:avLst/>
            <a:gdLst/>
            <a:ahLst/>
            <a:cxnLst/>
            <a:rect r="r" b="b" t="t" l="l"/>
            <a:pathLst>
              <a:path h="365769" w="638645">
                <a:moveTo>
                  <a:pt x="0" y="0"/>
                </a:moveTo>
                <a:lnTo>
                  <a:pt x="638645" y="0"/>
                </a:lnTo>
                <a:lnTo>
                  <a:pt x="638645" y="365769"/>
                </a:lnTo>
                <a:lnTo>
                  <a:pt x="0" y="365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5690" y="1876913"/>
            <a:ext cx="7278685" cy="162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0"/>
              </a:lnSpc>
            </a:pPr>
            <a:r>
              <a:rPr lang="en-US" sz="6000" spc="-527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Problem Statement</a:t>
            </a:r>
          </a:p>
          <a:p>
            <a:pPr algn="l">
              <a:lnSpc>
                <a:spcPts val="6360"/>
              </a:lnSpc>
            </a:pPr>
            <a:r>
              <a:rPr lang="en-US" sz="6000" spc="-527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&amp; Objective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054376" y="1628225"/>
            <a:ext cx="9457934" cy="3201499"/>
            <a:chOff x="0" y="0"/>
            <a:chExt cx="2490979" cy="843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0979" cy="843193"/>
            </a:xfrm>
            <a:custGeom>
              <a:avLst/>
              <a:gdLst/>
              <a:ahLst/>
              <a:cxnLst/>
              <a:rect r="r" b="b" t="t" l="l"/>
              <a:pathLst>
                <a:path h="843193" w="2490979">
                  <a:moveTo>
                    <a:pt x="32743" y="0"/>
                  </a:moveTo>
                  <a:lnTo>
                    <a:pt x="2458236" y="0"/>
                  </a:lnTo>
                  <a:cubicBezTo>
                    <a:pt x="2466920" y="0"/>
                    <a:pt x="2475248" y="3450"/>
                    <a:pt x="2481388" y="9590"/>
                  </a:cubicBezTo>
                  <a:cubicBezTo>
                    <a:pt x="2487529" y="15730"/>
                    <a:pt x="2490979" y="24059"/>
                    <a:pt x="2490979" y="32743"/>
                  </a:cubicBezTo>
                  <a:lnTo>
                    <a:pt x="2490979" y="810451"/>
                  </a:lnTo>
                  <a:cubicBezTo>
                    <a:pt x="2490979" y="819134"/>
                    <a:pt x="2487529" y="827463"/>
                    <a:pt x="2481388" y="833603"/>
                  </a:cubicBezTo>
                  <a:cubicBezTo>
                    <a:pt x="2475248" y="839744"/>
                    <a:pt x="2466920" y="843193"/>
                    <a:pt x="2458236" y="843193"/>
                  </a:cubicBezTo>
                  <a:lnTo>
                    <a:pt x="32743" y="843193"/>
                  </a:lnTo>
                  <a:cubicBezTo>
                    <a:pt x="24059" y="843193"/>
                    <a:pt x="15730" y="839744"/>
                    <a:pt x="9590" y="833603"/>
                  </a:cubicBezTo>
                  <a:cubicBezTo>
                    <a:pt x="3450" y="827463"/>
                    <a:pt x="0" y="819134"/>
                    <a:pt x="0" y="810451"/>
                  </a:cubicBezTo>
                  <a:lnTo>
                    <a:pt x="0" y="32743"/>
                  </a:lnTo>
                  <a:cubicBezTo>
                    <a:pt x="0" y="24059"/>
                    <a:pt x="3450" y="15730"/>
                    <a:pt x="9590" y="9590"/>
                  </a:cubicBezTo>
                  <a:cubicBezTo>
                    <a:pt x="15730" y="3450"/>
                    <a:pt x="24059" y="0"/>
                    <a:pt x="32743" y="0"/>
                  </a:cubicBezTo>
                  <a:close/>
                </a:path>
              </a:pathLst>
            </a:custGeom>
            <a:solidFill>
              <a:srgbClr val="E7E7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490979" cy="890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260068"/>
            <a:ext cx="6542914" cy="4998232"/>
            <a:chOff x="0" y="0"/>
            <a:chExt cx="1013669" cy="7743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3669" cy="774357"/>
            </a:xfrm>
            <a:custGeom>
              <a:avLst/>
              <a:gdLst/>
              <a:ahLst/>
              <a:cxnLst/>
              <a:rect r="r" b="b" t="t" l="l"/>
              <a:pathLst>
                <a:path h="774357" w="1013669">
                  <a:moveTo>
                    <a:pt x="47330" y="0"/>
                  </a:moveTo>
                  <a:lnTo>
                    <a:pt x="966339" y="0"/>
                  </a:lnTo>
                  <a:cubicBezTo>
                    <a:pt x="978891" y="0"/>
                    <a:pt x="990930" y="4987"/>
                    <a:pt x="999806" y="13863"/>
                  </a:cubicBezTo>
                  <a:cubicBezTo>
                    <a:pt x="1008682" y="22739"/>
                    <a:pt x="1013669" y="34777"/>
                    <a:pt x="1013669" y="47330"/>
                  </a:cubicBezTo>
                  <a:lnTo>
                    <a:pt x="1013669" y="727027"/>
                  </a:lnTo>
                  <a:cubicBezTo>
                    <a:pt x="1013669" y="753166"/>
                    <a:pt x="992478" y="774357"/>
                    <a:pt x="966339" y="774357"/>
                  </a:cubicBezTo>
                  <a:lnTo>
                    <a:pt x="47330" y="774357"/>
                  </a:lnTo>
                  <a:cubicBezTo>
                    <a:pt x="21190" y="774357"/>
                    <a:pt x="0" y="753166"/>
                    <a:pt x="0" y="727027"/>
                  </a:cubicBezTo>
                  <a:lnTo>
                    <a:pt x="0" y="47330"/>
                  </a:lnTo>
                  <a:cubicBezTo>
                    <a:pt x="0" y="21190"/>
                    <a:pt x="21190" y="0"/>
                    <a:pt x="47330" y="0"/>
                  </a:cubicBezTo>
                  <a:close/>
                </a:path>
              </a:pathLst>
            </a:custGeom>
            <a:blipFill>
              <a:blip r:embed="rId4"/>
              <a:stretch>
                <a:fillRect l="-12449" t="-1955" r="-28913" b="-2141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1440" y="2117725"/>
            <a:ext cx="8423805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Users may unknowingly visit phishing or malicious websites.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Blacklist-based detection fails against new, unseen URLs, leaving users exposed to credential theft and malware in real time.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7929" y="323850"/>
            <a:ext cx="37660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Multimedia University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54376" y="5429800"/>
            <a:ext cx="9457934" cy="3201499"/>
            <a:chOff x="0" y="0"/>
            <a:chExt cx="2490979" cy="8431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90979" cy="843193"/>
            </a:xfrm>
            <a:custGeom>
              <a:avLst/>
              <a:gdLst/>
              <a:ahLst/>
              <a:cxnLst/>
              <a:rect r="r" b="b" t="t" l="l"/>
              <a:pathLst>
                <a:path h="843193" w="2490979">
                  <a:moveTo>
                    <a:pt x="32743" y="0"/>
                  </a:moveTo>
                  <a:lnTo>
                    <a:pt x="2458236" y="0"/>
                  </a:lnTo>
                  <a:cubicBezTo>
                    <a:pt x="2466920" y="0"/>
                    <a:pt x="2475248" y="3450"/>
                    <a:pt x="2481388" y="9590"/>
                  </a:cubicBezTo>
                  <a:cubicBezTo>
                    <a:pt x="2487529" y="15730"/>
                    <a:pt x="2490979" y="24059"/>
                    <a:pt x="2490979" y="32743"/>
                  </a:cubicBezTo>
                  <a:lnTo>
                    <a:pt x="2490979" y="810451"/>
                  </a:lnTo>
                  <a:cubicBezTo>
                    <a:pt x="2490979" y="819134"/>
                    <a:pt x="2487529" y="827463"/>
                    <a:pt x="2481388" y="833603"/>
                  </a:cubicBezTo>
                  <a:cubicBezTo>
                    <a:pt x="2475248" y="839744"/>
                    <a:pt x="2466920" y="843193"/>
                    <a:pt x="2458236" y="843193"/>
                  </a:cubicBezTo>
                  <a:lnTo>
                    <a:pt x="32743" y="843193"/>
                  </a:lnTo>
                  <a:cubicBezTo>
                    <a:pt x="24059" y="843193"/>
                    <a:pt x="15730" y="839744"/>
                    <a:pt x="9590" y="833603"/>
                  </a:cubicBezTo>
                  <a:cubicBezTo>
                    <a:pt x="3450" y="827463"/>
                    <a:pt x="0" y="819134"/>
                    <a:pt x="0" y="810451"/>
                  </a:cubicBezTo>
                  <a:lnTo>
                    <a:pt x="0" y="32743"/>
                  </a:lnTo>
                  <a:cubicBezTo>
                    <a:pt x="0" y="24059"/>
                    <a:pt x="3450" y="15730"/>
                    <a:pt x="9590" y="9590"/>
                  </a:cubicBezTo>
                  <a:cubicBezTo>
                    <a:pt x="15730" y="3450"/>
                    <a:pt x="24059" y="0"/>
                    <a:pt x="32743" y="0"/>
                  </a:cubicBezTo>
                  <a:close/>
                </a:path>
              </a:pathLst>
            </a:custGeom>
            <a:solidFill>
              <a:srgbClr val="E7E7E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490979" cy="890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571440" y="5919299"/>
            <a:ext cx="8423805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To design and develop a machine learning model that identifies if a website is malicious or legitimate based on URL and the website features.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To build a prototype system that integrates detection and provides automated responses accordingly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5690" y="2036572"/>
            <a:ext cx="6628805" cy="2331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7"/>
              </a:lnSpc>
            </a:pPr>
            <a:r>
              <a:rPr lang="en-US" sz="5799" spc="-510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Proposed Solution</a:t>
            </a:r>
          </a:p>
          <a:p>
            <a:pPr algn="l">
              <a:lnSpc>
                <a:spcPts val="6147"/>
              </a:lnSpc>
            </a:pPr>
            <a:r>
              <a:rPr lang="en-US" sz="5799" spc="-510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&amp; ----------------------</a:t>
            </a:r>
          </a:p>
          <a:p>
            <a:pPr algn="l">
              <a:lnSpc>
                <a:spcPts val="6147"/>
              </a:lnSpc>
            </a:pPr>
            <a:r>
              <a:rPr lang="en-US" sz="5799" spc="-510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System Architecture</a:t>
            </a:r>
          </a:p>
        </p:txBody>
      </p:sp>
      <p:sp>
        <p:nvSpPr>
          <p:cNvPr name="AutoShape 3" id="3"/>
          <p:cNvSpPr/>
          <p:nvPr/>
        </p:nvSpPr>
        <p:spPr>
          <a:xfrm>
            <a:off x="-131783" y="1023938"/>
            <a:ext cx="18551567" cy="0"/>
          </a:xfrm>
          <a:prstGeom prst="line">
            <a:avLst/>
          </a:prstGeom>
          <a:ln cap="flat" w="9525">
            <a:solidFill>
              <a:srgbClr val="0E0E0E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171426" y="371475"/>
            <a:ext cx="638645" cy="365769"/>
          </a:xfrm>
          <a:custGeom>
            <a:avLst/>
            <a:gdLst/>
            <a:ahLst/>
            <a:cxnLst/>
            <a:rect r="r" b="b" t="t" l="l"/>
            <a:pathLst>
              <a:path h="365769" w="638645">
                <a:moveTo>
                  <a:pt x="0" y="0"/>
                </a:moveTo>
                <a:lnTo>
                  <a:pt x="638645" y="0"/>
                </a:lnTo>
                <a:lnTo>
                  <a:pt x="638645" y="365769"/>
                </a:lnTo>
                <a:lnTo>
                  <a:pt x="0" y="365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75690" y="5145413"/>
            <a:ext cx="6200433" cy="4114800"/>
            <a:chOff x="0" y="0"/>
            <a:chExt cx="1633036" cy="10837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3036" cy="1083733"/>
            </a:xfrm>
            <a:custGeom>
              <a:avLst/>
              <a:gdLst/>
              <a:ahLst/>
              <a:cxnLst/>
              <a:rect r="r" b="b" t="t" l="l"/>
              <a:pathLst>
                <a:path h="1083733" w="1633036">
                  <a:moveTo>
                    <a:pt x="49944" y="0"/>
                  </a:moveTo>
                  <a:lnTo>
                    <a:pt x="1583092" y="0"/>
                  </a:lnTo>
                  <a:cubicBezTo>
                    <a:pt x="1610675" y="0"/>
                    <a:pt x="1633036" y="22361"/>
                    <a:pt x="1633036" y="49944"/>
                  </a:cubicBezTo>
                  <a:lnTo>
                    <a:pt x="1633036" y="1033789"/>
                  </a:lnTo>
                  <a:cubicBezTo>
                    <a:pt x="1633036" y="1061373"/>
                    <a:pt x="1610675" y="1083733"/>
                    <a:pt x="1583092" y="1083733"/>
                  </a:cubicBezTo>
                  <a:lnTo>
                    <a:pt x="49944" y="1083733"/>
                  </a:lnTo>
                  <a:cubicBezTo>
                    <a:pt x="22361" y="1083733"/>
                    <a:pt x="0" y="1061373"/>
                    <a:pt x="0" y="1033789"/>
                  </a:cubicBezTo>
                  <a:lnTo>
                    <a:pt x="0" y="49944"/>
                  </a:lnTo>
                  <a:cubicBezTo>
                    <a:pt x="0" y="22361"/>
                    <a:pt x="22361" y="0"/>
                    <a:pt x="49944" y="0"/>
                  </a:cubicBezTo>
                  <a:close/>
                </a:path>
              </a:pathLst>
            </a:custGeom>
            <a:solidFill>
              <a:srgbClr val="E7E7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33036" cy="1131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179863" y="1070754"/>
            <a:ext cx="3991563" cy="8187546"/>
          </a:xfrm>
          <a:custGeom>
            <a:avLst/>
            <a:gdLst/>
            <a:ahLst/>
            <a:cxnLst/>
            <a:rect r="r" b="b" t="t" l="l"/>
            <a:pathLst>
              <a:path h="8187546" w="3991563">
                <a:moveTo>
                  <a:pt x="0" y="0"/>
                </a:moveTo>
                <a:lnTo>
                  <a:pt x="3991563" y="0"/>
                </a:lnTo>
                <a:lnTo>
                  <a:pt x="3991563" y="8187546"/>
                </a:lnTo>
                <a:lnTo>
                  <a:pt x="0" y="8187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710858" y="1070754"/>
            <a:ext cx="4734271" cy="8154892"/>
            <a:chOff x="0" y="0"/>
            <a:chExt cx="1246886" cy="21477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6886" cy="2147790"/>
            </a:xfrm>
            <a:custGeom>
              <a:avLst/>
              <a:gdLst/>
              <a:ahLst/>
              <a:cxnLst/>
              <a:rect r="r" b="b" t="t" l="l"/>
              <a:pathLst>
                <a:path h="2147790" w="1246886">
                  <a:moveTo>
                    <a:pt x="65412" y="0"/>
                  </a:moveTo>
                  <a:lnTo>
                    <a:pt x="1181474" y="0"/>
                  </a:lnTo>
                  <a:cubicBezTo>
                    <a:pt x="1217600" y="0"/>
                    <a:pt x="1246886" y="29286"/>
                    <a:pt x="1246886" y="65412"/>
                  </a:cubicBezTo>
                  <a:lnTo>
                    <a:pt x="1246886" y="2082379"/>
                  </a:lnTo>
                  <a:cubicBezTo>
                    <a:pt x="1246886" y="2099727"/>
                    <a:pt x="1239995" y="2116365"/>
                    <a:pt x="1227728" y="2128632"/>
                  </a:cubicBezTo>
                  <a:cubicBezTo>
                    <a:pt x="1215460" y="2140899"/>
                    <a:pt x="1198823" y="2147790"/>
                    <a:pt x="1181474" y="2147790"/>
                  </a:cubicBezTo>
                  <a:lnTo>
                    <a:pt x="65412" y="2147790"/>
                  </a:lnTo>
                  <a:cubicBezTo>
                    <a:pt x="48063" y="2147790"/>
                    <a:pt x="31426" y="2140899"/>
                    <a:pt x="19159" y="2128632"/>
                  </a:cubicBezTo>
                  <a:cubicBezTo>
                    <a:pt x="6892" y="2116365"/>
                    <a:pt x="0" y="2099727"/>
                    <a:pt x="0" y="2082379"/>
                  </a:cubicBezTo>
                  <a:lnTo>
                    <a:pt x="0" y="65412"/>
                  </a:lnTo>
                  <a:cubicBezTo>
                    <a:pt x="0" y="48063"/>
                    <a:pt x="6892" y="31426"/>
                    <a:pt x="19159" y="19159"/>
                  </a:cubicBezTo>
                  <a:cubicBezTo>
                    <a:pt x="31426" y="6892"/>
                    <a:pt x="48063" y="0"/>
                    <a:pt x="65412" y="0"/>
                  </a:cubicBezTo>
                  <a:close/>
                </a:path>
              </a:pathLst>
            </a:custGeom>
            <a:solidFill>
              <a:srgbClr val="E7E7E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46886" cy="2195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126250" y="7120915"/>
            <a:ext cx="1903486" cy="1903486"/>
          </a:xfrm>
          <a:custGeom>
            <a:avLst/>
            <a:gdLst/>
            <a:ahLst/>
            <a:cxnLst/>
            <a:rect r="r" b="b" t="t" l="l"/>
            <a:pathLst>
              <a:path h="1903486" w="1903486">
                <a:moveTo>
                  <a:pt x="0" y="0"/>
                </a:moveTo>
                <a:lnTo>
                  <a:pt x="1903486" y="0"/>
                </a:lnTo>
                <a:lnTo>
                  <a:pt x="1903486" y="1903487"/>
                </a:lnTo>
                <a:lnTo>
                  <a:pt x="0" y="19034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63478" y="6095391"/>
            <a:ext cx="5424858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Chrome Extension → FastAPI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Backend → Feature Extractor → ML Model → Risk Result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Browser extension Monitors top-level web navigations, excluding internal browser and local pages.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Backend classifies URL risk level using Gradient Boosting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3478" y="5446387"/>
            <a:ext cx="542485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System Pipeline: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929" y="323850"/>
            <a:ext cx="37660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Multimedia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37274" y="2363631"/>
            <a:ext cx="3681439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BF63"/>
                </a:solidFill>
                <a:latin typeface="Aileron Bold"/>
                <a:ea typeface="Aileron Bold"/>
                <a:cs typeface="Aileron Bold"/>
                <a:sym typeface="Aileron Bold"/>
              </a:rPr>
              <a:t>Low Risk </a:t>
            </a:r>
            <a:r>
              <a:rPr lang="en-US" sz="2799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→ </a:t>
            </a:r>
          </a:p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Allow access</a:t>
            </a:r>
            <a:r>
              <a:rPr lang="en-US" sz="2799" u="sng">
                <a:solidFill>
                  <a:srgbClr val="FF914D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914D"/>
                </a:solidFill>
                <a:latin typeface="Aileron Bold"/>
                <a:ea typeface="Aileron Bold"/>
                <a:cs typeface="Aileron Bold"/>
                <a:sym typeface="Aileron Bold"/>
              </a:rPr>
              <a:t>Medium Risk</a:t>
            </a:r>
            <a:r>
              <a:rPr lang="en-US" sz="2799">
                <a:solidFill>
                  <a:srgbClr val="FF914D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799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→ </a:t>
            </a:r>
            <a:r>
              <a:rPr lang="en-US" sz="2799" u="sng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Caution warning shown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3131"/>
                </a:solidFill>
                <a:latin typeface="Aileron Bold"/>
                <a:ea typeface="Aileron Bold"/>
                <a:cs typeface="Aileron Bold"/>
                <a:sym typeface="Aileron Bold"/>
              </a:rPr>
              <a:t>High Risk </a:t>
            </a:r>
            <a:r>
              <a:rPr lang="en-US" sz="2799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→ </a:t>
            </a:r>
          </a:p>
          <a:p>
            <a:pPr algn="l">
              <a:lnSpc>
                <a:spcPts val="3919"/>
              </a:lnSpc>
            </a:pPr>
            <a:r>
              <a:rPr lang="en-US" sz="2799" u="sng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Block page displayed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37274" y="1724152"/>
            <a:ext cx="368143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Risk level handling: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37274" y="6095391"/>
            <a:ext cx="368143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Confidence score and risk explanation provided to user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31783" y="1023938"/>
            <a:ext cx="18551567" cy="0"/>
          </a:xfrm>
          <a:prstGeom prst="line">
            <a:avLst/>
          </a:prstGeom>
          <a:ln cap="flat" w="9525">
            <a:solidFill>
              <a:srgbClr val="0E0E0E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171426" y="371475"/>
            <a:ext cx="638645" cy="365769"/>
          </a:xfrm>
          <a:custGeom>
            <a:avLst/>
            <a:gdLst/>
            <a:ahLst/>
            <a:cxnLst/>
            <a:rect r="r" b="b" t="t" l="l"/>
            <a:pathLst>
              <a:path h="365769" w="638645">
                <a:moveTo>
                  <a:pt x="0" y="0"/>
                </a:moveTo>
                <a:lnTo>
                  <a:pt x="638645" y="0"/>
                </a:lnTo>
                <a:lnTo>
                  <a:pt x="638645" y="365769"/>
                </a:lnTo>
                <a:lnTo>
                  <a:pt x="0" y="365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53172" y="4973307"/>
            <a:ext cx="6318560" cy="4475349"/>
            <a:chOff x="0" y="0"/>
            <a:chExt cx="978910" cy="6933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8910" cy="693349"/>
            </a:xfrm>
            <a:custGeom>
              <a:avLst/>
              <a:gdLst/>
              <a:ahLst/>
              <a:cxnLst/>
              <a:rect r="r" b="b" t="t" l="l"/>
              <a:pathLst>
                <a:path h="693349" w="978910">
                  <a:moveTo>
                    <a:pt x="49011" y="0"/>
                  </a:moveTo>
                  <a:lnTo>
                    <a:pt x="929900" y="0"/>
                  </a:lnTo>
                  <a:cubicBezTo>
                    <a:pt x="942898" y="0"/>
                    <a:pt x="955364" y="5164"/>
                    <a:pt x="964555" y="14355"/>
                  </a:cubicBezTo>
                  <a:cubicBezTo>
                    <a:pt x="973747" y="23546"/>
                    <a:pt x="978910" y="36012"/>
                    <a:pt x="978910" y="49011"/>
                  </a:cubicBezTo>
                  <a:lnTo>
                    <a:pt x="978910" y="644338"/>
                  </a:lnTo>
                  <a:cubicBezTo>
                    <a:pt x="978910" y="657336"/>
                    <a:pt x="973747" y="669802"/>
                    <a:pt x="964555" y="678994"/>
                  </a:cubicBezTo>
                  <a:cubicBezTo>
                    <a:pt x="955364" y="688185"/>
                    <a:pt x="942898" y="693349"/>
                    <a:pt x="929900" y="693349"/>
                  </a:cubicBezTo>
                  <a:lnTo>
                    <a:pt x="49011" y="693349"/>
                  </a:lnTo>
                  <a:cubicBezTo>
                    <a:pt x="21943" y="693349"/>
                    <a:pt x="0" y="671406"/>
                    <a:pt x="0" y="644338"/>
                  </a:cubicBezTo>
                  <a:lnTo>
                    <a:pt x="0" y="49011"/>
                  </a:lnTo>
                  <a:cubicBezTo>
                    <a:pt x="0" y="36012"/>
                    <a:pt x="5164" y="23546"/>
                    <a:pt x="14355" y="14355"/>
                  </a:cubicBezTo>
                  <a:cubicBezTo>
                    <a:pt x="23546" y="5164"/>
                    <a:pt x="36012" y="0"/>
                    <a:pt x="49011" y="0"/>
                  </a:cubicBezTo>
                  <a:close/>
                </a:path>
              </a:pathLst>
            </a:custGeom>
            <a:blipFill>
              <a:blip r:embed="rId4"/>
              <a:stretch>
                <a:fillRect l="-29774" t="0" r="-28346" b="-4882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6003" y="1681743"/>
            <a:ext cx="7820219" cy="2771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795"/>
              </a:lnSpc>
            </a:pPr>
            <a:r>
              <a:rPr lang="en-US" sz="10184" spc="-896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Feature </a:t>
            </a:r>
          </a:p>
          <a:p>
            <a:pPr algn="just">
              <a:lnSpc>
                <a:spcPts val="10795"/>
              </a:lnSpc>
            </a:pPr>
            <a:r>
              <a:rPr lang="en-US" sz="10184" spc="-896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Extraction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612471" y="1548393"/>
            <a:ext cx="3179295" cy="7900263"/>
            <a:chOff x="0" y="0"/>
            <a:chExt cx="4239060" cy="1053368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239060" cy="10533685"/>
              <a:chOff x="0" y="0"/>
              <a:chExt cx="837345" cy="208072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37345" cy="2080728"/>
              </a:xfrm>
              <a:custGeom>
                <a:avLst/>
                <a:gdLst/>
                <a:ahLst/>
                <a:cxnLst/>
                <a:rect r="r" b="b" t="t" l="l"/>
                <a:pathLst>
                  <a:path h="2080728" w="837345">
                    <a:moveTo>
                      <a:pt x="97404" y="0"/>
                    </a:moveTo>
                    <a:lnTo>
                      <a:pt x="739941" y="0"/>
                    </a:lnTo>
                    <a:cubicBezTo>
                      <a:pt x="765774" y="0"/>
                      <a:pt x="790549" y="10262"/>
                      <a:pt x="808816" y="28529"/>
                    </a:cubicBezTo>
                    <a:cubicBezTo>
                      <a:pt x="827083" y="46796"/>
                      <a:pt x="837345" y="71571"/>
                      <a:pt x="837345" y="97404"/>
                    </a:cubicBezTo>
                    <a:lnTo>
                      <a:pt x="837345" y="1983324"/>
                    </a:lnTo>
                    <a:cubicBezTo>
                      <a:pt x="837345" y="2009157"/>
                      <a:pt x="827083" y="2033932"/>
                      <a:pt x="808816" y="2052199"/>
                    </a:cubicBezTo>
                    <a:cubicBezTo>
                      <a:pt x="790549" y="2070466"/>
                      <a:pt x="765774" y="2080728"/>
                      <a:pt x="739941" y="2080728"/>
                    </a:cubicBezTo>
                    <a:lnTo>
                      <a:pt x="97404" y="2080728"/>
                    </a:lnTo>
                    <a:cubicBezTo>
                      <a:pt x="71571" y="2080728"/>
                      <a:pt x="46796" y="2070466"/>
                      <a:pt x="28529" y="2052199"/>
                    </a:cubicBezTo>
                    <a:cubicBezTo>
                      <a:pt x="10262" y="2033932"/>
                      <a:pt x="0" y="2009157"/>
                      <a:pt x="0" y="1983324"/>
                    </a:cubicBezTo>
                    <a:lnTo>
                      <a:pt x="0" y="97404"/>
                    </a:lnTo>
                    <a:cubicBezTo>
                      <a:pt x="0" y="71571"/>
                      <a:pt x="10262" y="46796"/>
                      <a:pt x="28529" y="28529"/>
                    </a:cubicBezTo>
                    <a:cubicBezTo>
                      <a:pt x="46796" y="10262"/>
                      <a:pt x="71571" y="0"/>
                      <a:pt x="97404" y="0"/>
                    </a:cubicBezTo>
                    <a:close/>
                  </a:path>
                </a:pathLst>
              </a:custGeom>
              <a:solidFill>
                <a:srgbClr val="E7E7E7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837345" cy="2128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54455" y="2215221"/>
              <a:ext cx="3530149" cy="32691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URL length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Dot count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Digit count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Hyphen count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Shannon entropy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Special character count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791480" y="615071"/>
              <a:ext cx="2656100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0E0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Lexical Features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77929" y="323850"/>
            <a:ext cx="37660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Multimedia University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121623" y="1548393"/>
            <a:ext cx="3179295" cy="7900263"/>
            <a:chOff x="0" y="0"/>
            <a:chExt cx="4239060" cy="1053368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239060" cy="10533685"/>
              <a:chOff x="0" y="0"/>
              <a:chExt cx="837345" cy="208072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37345" cy="2080728"/>
              </a:xfrm>
              <a:custGeom>
                <a:avLst/>
                <a:gdLst/>
                <a:ahLst/>
                <a:cxnLst/>
                <a:rect r="r" b="b" t="t" l="l"/>
                <a:pathLst>
                  <a:path h="2080728" w="837345">
                    <a:moveTo>
                      <a:pt x="97404" y="0"/>
                    </a:moveTo>
                    <a:lnTo>
                      <a:pt x="739941" y="0"/>
                    </a:lnTo>
                    <a:cubicBezTo>
                      <a:pt x="765774" y="0"/>
                      <a:pt x="790549" y="10262"/>
                      <a:pt x="808816" y="28529"/>
                    </a:cubicBezTo>
                    <a:cubicBezTo>
                      <a:pt x="827083" y="46796"/>
                      <a:pt x="837345" y="71571"/>
                      <a:pt x="837345" y="97404"/>
                    </a:cubicBezTo>
                    <a:lnTo>
                      <a:pt x="837345" y="1983324"/>
                    </a:lnTo>
                    <a:cubicBezTo>
                      <a:pt x="837345" y="2009157"/>
                      <a:pt x="827083" y="2033932"/>
                      <a:pt x="808816" y="2052199"/>
                    </a:cubicBezTo>
                    <a:cubicBezTo>
                      <a:pt x="790549" y="2070466"/>
                      <a:pt x="765774" y="2080728"/>
                      <a:pt x="739941" y="2080728"/>
                    </a:cubicBezTo>
                    <a:lnTo>
                      <a:pt x="97404" y="2080728"/>
                    </a:lnTo>
                    <a:cubicBezTo>
                      <a:pt x="71571" y="2080728"/>
                      <a:pt x="46796" y="2070466"/>
                      <a:pt x="28529" y="2052199"/>
                    </a:cubicBezTo>
                    <a:cubicBezTo>
                      <a:pt x="10262" y="2033932"/>
                      <a:pt x="0" y="2009157"/>
                      <a:pt x="0" y="1983324"/>
                    </a:cubicBezTo>
                    <a:lnTo>
                      <a:pt x="0" y="97404"/>
                    </a:lnTo>
                    <a:cubicBezTo>
                      <a:pt x="0" y="71571"/>
                      <a:pt x="10262" y="46796"/>
                      <a:pt x="28529" y="28529"/>
                    </a:cubicBezTo>
                    <a:cubicBezTo>
                      <a:pt x="46796" y="10262"/>
                      <a:pt x="71571" y="0"/>
                      <a:pt x="97404" y="0"/>
                    </a:cubicBezTo>
                    <a:close/>
                  </a:path>
                </a:pathLst>
              </a:custGeom>
              <a:solidFill>
                <a:srgbClr val="E7E7E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837345" cy="2128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4455" y="2215221"/>
              <a:ext cx="3530149" cy="4678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Path depth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Query length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Query parameter count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IP address presence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Suspicious TLD detection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Punycode detection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Executable/script path detection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91480" y="615071"/>
              <a:ext cx="2656100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0E0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Structural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0E0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Features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30776" y="1548393"/>
            <a:ext cx="3179295" cy="7900263"/>
            <a:chOff x="0" y="0"/>
            <a:chExt cx="4239060" cy="10533685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239060" cy="10533685"/>
              <a:chOff x="0" y="0"/>
              <a:chExt cx="837345" cy="208072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37345" cy="2080728"/>
              </a:xfrm>
              <a:custGeom>
                <a:avLst/>
                <a:gdLst/>
                <a:ahLst/>
                <a:cxnLst/>
                <a:rect r="r" b="b" t="t" l="l"/>
                <a:pathLst>
                  <a:path h="2080728" w="837345">
                    <a:moveTo>
                      <a:pt x="97404" y="0"/>
                    </a:moveTo>
                    <a:lnTo>
                      <a:pt x="739941" y="0"/>
                    </a:lnTo>
                    <a:cubicBezTo>
                      <a:pt x="765774" y="0"/>
                      <a:pt x="790549" y="10262"/>
                      <a:pt x="808816" y="28529"/>
                    </a:cubicBezTo>
                    <a:cubicBezTo>
                      <a:pt x="827083" y="46796"/>
                      <a:pt x="837345" y="71571"/>
                      <a:pt x="837345" y="97404"/>
                    </a:cubicBezTo>
                    <a:lnTo>
                      <a:pt x="837345" y="1983324"/>
                    </a:lnTo>
                    <a:cubicBezTo>
                      <a:pt x="837345" y="2009157"/>
                      <a:pt x="827083" y="2033932"/>
                      <a:pt x="808816" y="2052199"/>
                    </a:cubicBezTo>
                    <a:cubicBezTo>
                      <a:pt x="790549" y="2070466"/>
                      <a:pt x="765774" y="2080728"/>
                      <a:pt x="739941" y="2080728"/>
                    </a:cubicBezTo>
                    <a:lnTo>
                      <a:pt x="97404" y="2080728"/>
                    </a:lnTo>
                    <a:cubicBezTo>
                      <a:pt x="71571" y="2080728"/>
                      <a:pt x="46796" y="2070466"/>
                      <a:pt x="28529" y="2052199"/>
                    </a:cubicBezTo>
                    <a:cubicBezTo>
                      <a:pt x="10262" y="2033932"/>
                      <a:pt x="0" y="2009157"/>
                      <a:pt x="0" y="1983324"/>
                    </a:cubicBezTo>
                    <a:lnTo>
                      <a:pt x="0" y="97404"/>
                    </a:lnTo>
                    <a:cubicBezTo>
                      <a:pt x="0" y="71571"/>
                      <a:pt x="10262" y="46796"/>
                      <a:pt x="28529" y="28529"/>
                    </a:cubicBezTo>
                    <a:cubicBezTo>
                      <a:pt x="46796" y="10262"/>
                      <a:pt x="71571" y="0"/>
                      <a:pt x="97404" y="0"/>
                    </a:cubicBezTo>
                    <a:close/>
                  </a:path>
                </a:pathLst>
              </a:custGeom>
              <a:solidFill>
                <a:srgbClr val="E7E7E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837345" cy="2128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54455" y="2215221"/>
              <a:ext cx="3530149" cy="5148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Known trusted domain check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Brand/domain mismatch check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Password field detection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Hidden iframe presence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External script count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E0E0E"/>
                  </a:solidFill>
                  <a:latin typeface="Aileron"/>
                  <a:ea typeface="Aileron"/>
                  <a:cs typeface="Aileron"/>
                  <a:sym typeface="Aileron"/>
                </a:rPr>
                <a:t>• Suspicious page text signals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42354" y="615071"/>
              <a:ext cx="2954352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E0E0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Trust &amp; DOM Features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31783" y="1023938"/>
            <a:ext cx="18551567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171426" y="371475"/>
            <a:ext cx="638645" cy="365769"/>
          </a:xfrm>
          <a:custGeom>
            <a:avLst/>
            <a:gdLst/>
            <a:ahLst/>
            <a:cxnLst/>
            <a:rect r="r" b="b" t="t" l="l"/>
            <a:pathLst>
              <a:path h="365769" w="638645">
                <a:moveTo>
                  <a:pt x="0" y="0"/>
                </a:moveTo>
                <a:lnTo>
                  <a:pt x="638645" y="0"/>
                </a:lnTo>
                <a:lnTo>
                  <a:pt x="638645" y="365769"/>
                </a:lnTo>
                <a:lnTo>
                  <a:pt x="0" y="365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55122" y="1821956"/>
            <a:ext cx="8196465" cy="277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5"/>
              </a:lnSpc>
            </a:pPr>
            <a:r>
              <a:rPr lang="en-US" sz="10184" spc="-896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ML Model </a:t>
            </a:r>
          </a:p>
          <a:p>
            <a:pPr algn="l">
              <a:lnSpc>
                <a:spcPts val="10795"/>
              </a:lnSpc>
            </a:pPr>
            <a:r>
              <a:rPr lang="en-US" sz="10184" spc="-896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Comparison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55122" y="4834230"/>
            <a:ext cx="7958742" cy="4461087"/>
            <a:chOff x="0" y="0"/>
            <a:chExt cx="2096130" cy="1174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6130" cy="1174937"/>
            </a:xfrm>
            <a:custGeom>
              <a:avLst/>
              <a:gdLst/>
              <a:ahLst/>
              <a:cxnLst/>
              <a:rect r="r" b="b" t="t" l="l"/>
              <a:pathLst>
                <a:path h="1174937" w="2096130">
                  <a:moveTo>
                    <a:pt x="38910" y="0"/>
                  </a:moveTo>
                  <a:lnTo>
                    <a:pt x="2057219" y="0"/>
                  </a:lnTo>
                  <a:cubicBezTo>
                    <a:pt x="2067539" y="0"/>
                    <a:pt x="2077436" y="4099"/>
                    <a:pt x="2084733" y="11397"/>
                  </a:cubicBezTo>
                  <a:cubicBezTo>
                    <a:pt x="2092030" y="18694"/>
                    <a:pt x="2096130" y="28591"/>
                    <a:pt x="2096130" y="38910"/>
                  </a:cubicBezTo>
                  <a:lnTo>
                    <a:pt x="2096130" y="1136026"/>
                  </a:lnTo>
                  <a:cubicBezTo>
                    <a:pt x="2096130" y="1157516"/>
                    <a:pt x="2078709" y="1174937"/>
                    <a:pt x="2057219" y="1174937"/>
                  </a:cubicBezTo>
                  <a:lnTo>
                    <a:pt x="38910" y="1174937"/>
                  </a:lnTo>
                  <a:cubicBezTo>
                    <a:pt x="28591" y="1174937"/>
                    <a:pt x="18694" y="1170837"/>
                    <a:pt x="11397" y="1163540"/>
                  </a:cubicBezTo>
                  <a:cubicBezTo>
                    <a:pt x="4099" y="1156243"/>
                    <a:pt x="0" y="1146346"/>
                    <a:pt x="0" y="1136026"/>
                  </a:cubicBezTo>
                  <a:lnTo>
                    <a:pt x="0" y="38910"/>
                  </a:lnTo>
                  <a:cubicBezTo>
                    <a:pt x="0" y="28591"/>
                    <a:pt x="4099" y="18694"/>
                    <a:pt x="11397" y="11397"/>
                  </a:cubicBezTo>
                  <a:cubicBezTo>
                    <a:pt x="18694" y="4099"/>
                    <a:pt x="28591" y="0"/>
                    <a:pt x="38910" y="0"/>
                  </a:cubicBezTo>
                  <a:close/>
                </a:path>
              </a:pathLst>
            </a:custGeom>
            <a:solidFill>
              <a:srgbClr val="E7E7E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96130" cy="1222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64955" y="5104211"/>
            <a:ext cx="6939076" cy="398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Four machine learning models were trained and evaluated on the same labeled URL dataset: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• Gradient Boosting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• Random Forest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• Logistic Regression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• Support Vector Machine (SVM)</a:t>
            </a:r>
          </a:p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4F5393"/>
                </a:solidFill>
                <a:latin typeface="Aileron Bold"/>
                <a:ea typeface="Aileron Bold"/>
                <a:cs typeface="Aileron Bold"/>
                <a:sym typeface="Aileron Bold"/>
              </a:rPr>
              <a:t>Gradient Boosting was selected as the final model </a:t>
            </a:r>
            <a:r>
              <a:rPr lang="en-US" sz="22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due to its superior balance of </a:t>
            </a:r>
            <a:r>
              <a:rPr lang="en-US" sz="22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accuracy, malicious recall, and minimal false positives</a:t>
            </a:r>
            <a:r>
              <a:rPr lang="en-US" sz="22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 on legitimate URLs.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Source: Model comparison results from project evaluation report.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7929" y="323850"/>
            <a:ext cx="37660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Multimedia University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52425" y="891636"/>
            <a:ext cx="7787873" cy="8503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31783" y="1023938"/>
            <a:ext cx="18551567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171426" y="371475"/>
            <a:ext cx="638645" cy="365769"/>
          </a:xfrm>
          <a:custGeom>
            <a:avLst/>
            <a:gdLst/>
            <a:ahLst/>
            <a:cxnLst/>
            <a:rect r="r" b="b" t="t" l="l"/>
            <a:pathLst>
              <a:path h="365769" w="638645">
                <a:moveTo>
                  <a:pt x="0" y="0"/>
                </a:moveTo>
                <a:lnTo>
                  <a:pt x="638645" y="0"/>
                </a:lnTo>
                <a:lnTo>
                  <a:pt x="638645" y="365769"/>
                </a:lnTo>
                <a:lnTo>
                  <a:pt x="0" y="3657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96125" y="673100"/>
            <a:ext cx="4293846" cy="4293846"/>
          </a:xfrm>
          <a:custGeom>
            <a:avLst/>
            <a:gdLst/>
            <a:ahLst/>
            <a:cxnLst/>
            <a:rect r="r" b="b" t="t" l="l"/>
            <a:pathLst>
              <a:path h="4293846" w="4293846">
                <a:moveTo>
                  <a:pt x="0" y="0"/>
                </a:moveTo>
                <a:lnTo>
                  <a:pt x="4293846" y="0"/>
                </a:lnTo>
                <a:lnTo>
                  <a:pt x="4293846" y="4293846"/>
                </a:lnTo>
                <a:lnTo>
                  <a:pt x="0" y="42938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0624" y="3163583"/>
            <a:ext cx="17284848" cy="323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50"/>
              </a:lnSpc>
            </a:pPr>
            <a:r>
              <a:rPr lang="en-US" sz="18893" spc="-166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Demonstration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7929" y="323850"/>
            <a:ext cx="37660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Multimedia University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31783" y="1023938"/>
            <a:ext cx="18551567" cy="0"/>
          </a:xfrm>
          <a:prstGeom prst="line">
            <a:avLst/>
          </a:prstGeom>
          <a:ln cap="flat" w="9525">
            <a:solidFill>
              <a:srgbClr val="0E0E0E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171426" y="371475"/>
            <a:ext cx="638645" cy="365769"/>
          </a:xfrm>
          <a:custGeom>
            <a:avLst/>
            <a:gdLst/>
            <a:ahLst/>
            <a:cxnLst/>
            <a:rect r="r" b="b" t="t" l="l"/>
            <a:pathLst>
              <a:path h="365769" w="638645">
                <a:moveTo>
                  <a:pt x="0" y="0"/>
                </a:moveTo>
                <a:lnTo>
                  <a:pt x="638645" y="0"/>
                </a:lnTo>
                <a:lnTo>
                  <a:pt x="638645" y="365769"/>
                </a:lnTo>
                <a:lnTo>
                  <a:pt x="0" y="365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25188" y="1657086"/>
            <a:ext cx="6724981" cy="3973545"/>
            <a:chOff x="0" y="0"/>
            <a:chExt cx="1041875" cy="6156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875" cy="615606"/>
            </a:xfrm>
            <a:custGeom>
              <a:avLst/>
              <a:gdLst/>
              <a:ahLst/>
              <a:cxnLst/>
              <a:rect r="r" b="b" t="t" l="l"/>
              <a:pathLst>
                <a:path h="615606" w="1041875">
                  <a:moveTo>
                    <a:pt x="46049" y="0"/>
                  </a:moveTo>
                  <a:lnTo>
                    <a:pt x="995827" y="0"/>
                  </a:lnTo>
                  <a:cubicBezTo>
                    <a:pt x="1021259" y="0"/>
                    <a:pt x="1041875" y="20617"/>
                    <a:pt x="1041875" y="46049"/>
                  </a:cubicBezTo>
                  <a:lnTo>
                    <a:pt x="1041875" y="569557"/>
                  </a:lnTo>
                  <a:cubicBezTo>
                    <a:pt x="1041875" y="594989"/>
                    <a:pt x="1021259" y="615606"/>
                    <a:pt x="995827" y="615606"/>
                  </a:cubicBezTo>
                  <a:lnTo>
                    <a:pt x="46049" y="615606"/>
                  </a:lnTo>
                  <a:cubicBezTo>
                    <a:pt x="20617" y="615606"/>
                    <a:pt x="0" y="594989"/>
                    <a:pt x="0" y="569557"/>
                  </a:cubicBezTo>
                  <a:lnTo>
                    <a:pt x="0" y="46049"/>
                  </a:lnTo>
                  <a:cubicBezTo>
                    <a:pt x="0" y="20617"/>
                    <a:pt x="20617" y="0"/>
                    <a:pt x="4604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464" r="0" b="-646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17460" y="6479728"/>
            <a:ext cx="6797464" cy="2778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5"/>
              </a:lnSpc>
            </a:pPr>
            <a:r>
              <a:rPr lang="en-US" sz="10184" spc="-896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Results &amp; </a:t>
            </a:r>
          </a:p>
          <a:p>
            <a:pPr algn="l">
              <a:lnSpc>
                <a:spcPts val="10795"/>
              </a:lnSpc>
            </a:pPr>
            <a:r>
              <a:rPr lang="en-US" sz="10184" spc="-896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Evaluation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958650" y="1657086"/>
            <a:ext cx="9604162" cy="7791570"/>
            <a:chOff x="0" y="0"/>
            <a:chExt cx="2529491" cy="20521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29491" cy="2052101"/>
            </a:xfrm>
            <a:custGeom>
              <a:avLst/>
              <a:gdLst/>
              <a:ahLst/>
              <a:cxnLst/>
              <a:rect r="r" b="b" t="t" l="l"/>
              <a:pathLst>
                <a:path h="2052101" w="2529491">
                  <a:moveTo>
                    <a:pt x="32244" y="0"/>
                  </a:moveTo>
                  <a:lnTo>
                    <a:pt x="2497247" y="0"/>
                  </a:lnTo>
                  <a:cubicBezTo>
                    <a:pt x="2515055" y="0"/>
                    <a:pt x="2529491" y="14436"/>
                    <a:pt x="2529491" y="32244"/>
                  </a:cubicBezTo>
                  <a:lnTo>
                    <a:pt x="2529491" y="2019857"/>
                  </a:lnTo>
                  <a:cubicBezTo>
                    <a:pt x="2529491" y="2037665"/>
                    <a:pt x="2515055" y="2052101"/>
                    <a:pt x="2497247" y="2052101"/>
                  </a:cubicBezTo>
                  <a:lnTo>
                    <a:pt x="32244" y="2052101"/>
                  </a:lnTo>
                  <a:cubicBezTo>
                    <a:pt x="14436" y="2052101"/>
                    <a:pt x="0" y="2037665"/>
                    <a:pt x="0" y="2019857"/>
                  </a:cubicBezTo>
                  <a:lnTo>
                    <a:pt x="0" y="32244"/>
                  </a:lnTo>
                  <a:cubicBezTo>
                    <a:pt x="0" y="14436"/>
                    <a:pt x="14436" y="0"/>
                    <a:pt x="32244" y="0"/>
                  </a:cubicBezTo>
                  <a:close/>
                </a:path>
              </a:pathLst>
            </a:custGeom>
            <a:solidFill>
              <a:srgbClr val="E7E7E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529491" cy="2099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915548" y="3441497"/>
            <a:ext cx="7690367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Accuracy: 98.31%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Malicious Precision: 98.28%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Malicious Recall: 95.00%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ROC-AUC Score: 0.9924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High-Risk Classification Threshold: 0.90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Hard-Negative False Positive Rate: 0.00%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15548" y="2230332"/>
            <a:ext cx="7690367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Key Performance Metrics — Gradient Boosting Model: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7929" y="323850"/>
            <a:ext cx="37660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Multimedia University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15548" y="5943396"/>
            <a:ext cx="7775513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</a:pPr>
            <a:r>
              <a:rPr lang="en-US" sz="2399">
                <a:solidFill>
                  <a:srgbClr val="242F7A"/>
                </a:solidFill>
                <a:latin typeface="Aileron"/>
                <a:ea typeface="Aileron"/>
                <a:cs typeface="Aileron"/>
                <a:sym typeface="Aileron"/>
              </a:rPr>
              <a:t>Key Takeaway: Gradient Boosting achieves the optimal balance between malicious URL detection and false positive reduction. With near-perfect precision and a zero false-positive rate on hard negatives, the model reliably distinguishes phishing and suspicious URLs from legitimate ones — making it a suitable choice for real-time browser-based deployment.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31783" y="1023938"/>
            <a:ext cx="18551567" cy="0"/>
          </a:xfrm>
          <a:prstGeom prst="line">
            <a:avLst/>
          </a:prstGeom>
          <a:ln cap="flat" w="9525">
            <a:solidFill>
              <a:srgbClr val="0E0E0E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171426" y="371475"/>
            <a:ext cx="638645" cy="365769"/>
          </a:xfrm>
          <a:custGeom>
            <a:avLst/>
            <a:gdLst/>
            <a:ahLst/>
            <a:cxnLst/>
            <a:rect r="r" b="b" t="t" l="l"/>
            <a:pathLst>
              <a:path h="365769" w="638645">
                <a:moveTo>
                  <a:pt x="0" y="0"/>
                </a:moveTo>
                <a:lnTo>
                  <a:pt x="638645" y="0"/>
                </a:lnTo>
                <a:lnTo>
                  <a:pt x="638645" y="365769"/>
                </a:lnTo>
                <a:lnTo>
                  <a:pt x="0" y="365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29861" y="3438682"/>
            <a:ext cx="8741679" cy="6171280"/>
            <a:chOff x="0" y="0"/>
            <a:chExt cx="1354315" cy="9560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4315" cy="956093"/>
            </a:xfrm>
            <a:custGeom>
              <a:avLst/>
              <a:gdLst/>
              <a:ahLst/>
              <a:cxnLst/>
              <a:rect r="r" b="b" t="t" l="l"/>
              <a:pathLst>
                <a:path h="956093" w="1354315">
                  <a:moveTo>
                    <a:pt x="35425" y="0"/>
                  </a:moveTo>
                  <a:lnTo>
                    <a:pt x="1318889" y="0"/>
                  </a:lnTo>
                  <a:cubicBezTo>
                    <a:pt x="1328285" y="0"/>
                    <a:pt x="1337295" y="3732"/>
                    <a:pt x="1343939" y="10376"/>
                  </a:cubicBezTo>
                  <a:cubicBezTo>
                    <a:pt x="1350582" y="17019"/>
                    <a:pt x="1354315" y="26030"/>
                    <a:pt x="1354315" y="35425"/>
                  </a:cubicBezTo>
                  <a:lnTo>
                    <a:pt x="1354315" y="920667"/>
                  </a:lnTo>
                  <a:cubicBezTo>
                    <a:pt x="1354315" y="930063"/>
                    <a:pt x="1350582" y="939073"/>
                    <a:pt x="1343939" y="945717"/>
                  </a:cubicBezTo>
                  <a:cubicBezTo>
                    <a:pt x="1337295" y="952360"/>
                    <a:pt x="1328285" y="956093"/>
                    <a:pt x="1318889" y="956093"/>
                  </a:cubicBezTo>
                  <a:lnTo>
                    <a:pt x="35425" y="956093"/>
                  </a:lnTo>
                  <a:cubicBezTo>
                    <a:pt x="26030" y="956093"/>
                    <a:pt x="17019" y="952360"/>
                    <a:pt x="10376" y="945717"/>
                  </a:cubicBezTo>
                  <a:cubicBezTo>
                    <a:pt x="3732" y="939073"/>
                    <a:pt x="0" y="930063"/>
                    <a:pt x="0" y="920667"/>
                  </a:cubicBezTo>
                  <a:lnTo>
                    <a:pt x="0" y="35425"/>
                  </a:lnTo>
                  <a:cubicBezTo>
                    <a:pt x="0" y="26030"/>
                    <a:pt x="3732" y="17019"/>
                    <a:pt x="10376" y="10376"/>
                  </a:cubicBezTo>
                  <a:cubicBezTo>
                    <a:pt x="17019" y="3732"/>
                    <a:pt x="26030" y="0"/>
                    <a:pt x="35425" y="0"/>
                  </a:cubicBezTo>
                  <a:close/>
                </a:path>
              </a:pathLst>
            </a:custGeom>
            <a:blipFill>
              <a:blip r:embed="rId4"/>
              <a:stretch>
                <a:fillRect l="-15593" t="0" r="-186680" b="-14067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29861" y="1826709"/>
            <a:ext cx="8431000" cy="140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795"/>
              </a:lnSpc>
            </a:pPr>
            <a:r>
              <a:rPr lang="en-US" sz="10184" spc="-896">
                <a:solidFill>
                  <a:srgbClr val="0E0E0E"/>
                </a:solidFill>
                <a:latin typeface="Garet"/>
                <a:ea typeface="Garet"/>
                <a:cs typeface="Garet"/>
                <a:sym typeface="Garet"/>
              </a:rPr>
              <a:t>Conclusion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28010" y="1486503"/>
            <a:ext cx="7662739" cy="3318934"/>
            <a:chOff x="0" y="0"/>
            <a:chExt cx="2018170" cy="8741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8170" cy="874123"/>
            </a:xfrm>
            <a:custGeom>
              <a:avLst/>
              <a:gdLst/>
              <a:ahLst/>
              <a:cxnLst/>
              <a:rect r="r" b="b" t="t" l="l"/>
              <a:pathLst>
                <a:path h="874123" w="2018170">
                  <a:moveTo>
                    <a:pt x="40413" y="0"/>
                  </a:moveTo>
                  <a:lnTo>
                    <a:pt x="1977757" y="0"/>
                  </a:lnTo>
                  <a:cubicBezTo>
                    <a:pt x="1988475" y="0"/>
                    <a:pt x="1998754" y="4258"/>
                    <a:pt x="2006333" y="11837"/>
                  </a:cubicBezTo>
                  <a:cubicBezTo>
                    <a:pt x="2013912" y="19416"/>
                    <a:pt x="2018170" y="29695"/>
                    <a:pt x="2018170" y="40413"/>
                  </a:cubicBezTo>
                  <a:lnTo>
                    <a:pt x="2018170" y="833709"/>
                  </a:lnTo>
                  <a:cubicBezTo>
                    <a:pt x="2018170" y="844427"/>
                    <a:pt x="2013912" y="854707"/>
                    <a:pt x="2006333" y="862286"/>
                  </a:cubicBezTo>
                  <a:cubicBezTo>
                    <a:pt x="1998754" y="869865"/>
                    <a:pt x="1988475" y="874123"/>
                    <a:pt x="1977757" y="874123"/>
                  </a:cubicBezTo>
                  <a:lnTo>
                    <a:pt x="40413" y="874123"/>
                  </a:lnTo>
                  <a:cubicBezTo>
                    <a:pt x="29695" y="874123"/>
                    <a:pt x="19416" y="869865"/>
                    <a:pt x="11837" y="862286"/>
                  </a:cubicBezTo>
                  <a:cubicBezTo>
                    <a:pt x="4258" y="854707"/>
                    <a:pt x="0" y="844427"/>
                    <a:pt x="0" y="833709"/>
                  </a:cubicBezTo>
                  <a:lnTo>
                    <a:pt x="0" y="40413"/>
                  </a:lnTo>
                  <a:cubicBezTo>
                    <a:pt x="0" y="29695"/>
                    <a:pt x="4258" y="19416"/>
                    <a:pt x="11837" y="11837"/>
                  </a:cubicBezTo>
                  <a:cubicBezTo>
                    <a:pt x="19416" y="4258"/>
                    <a:pt x="29695" y="0"/>
                    <a:pt x="40413" y="0"/>
                  </a:cubicBezTo>
                  <a:close/>
                </a:path>
              </a:pathLst>
            </a:custGeom>
            <a:solidFill>
              <a:srgbClr val="E7E7E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18170" cy="92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66120" y="2441137"/>
            <a:ext cx="6386518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Mostly URL-centric; limited page content analysis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Local backend must be running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Dataset can be expanded for better generalization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66120" y="2020733"/>
            <a:ext cx="574388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Limitations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7929" y="323850"/>
            <a:ext cx="37660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Multimedia University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28010" y="5262637"/>
            <a:ext cx="7662739" cy="3318934"/>
            <a:chOff x="0" y="0"/>
            <a:chExt cx="2018170" cy="8741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8170" cy="874123"/>
            </a:xfrm>
            <a:custGeom>
              <a:avLst/>
              <a:gdLst/>
              <a:ahLst/>
              <a:cxnLst/>
              <a:rect r="r" b="b" t="t" l="l"/>
              <a:pathLst>
                <a:path h="874123" w="2018170">
                  <a:moveTo>
                    <a:pt x="40413" y="0"/>
                  </a:moveTo>
                  <a:lnTo>
                    <a:pt x="1977757" y="0"/>
                  </a:lnTo>
                  <a:cubicBezTo>
                    <a:pt x="1988475" y="0"/>
                    <a:pt x="1998754" y="4258"/>
                    <a:pt x="2006333" y="11837"/>
                  </a:cubicBezTo>
                  <a:cubicBezTo>
                    <a:pt x="2013912" y="19416"/>
                    <a:pt x="2018170" y="29695"/>
                    <a:pt x="2018170" y="40413"/>
                  </a:cubicBezTo>
                  <a:lnTo>
                    <a:pt x="2018170" y="833709"/>
                  </a:lnTo>
                  <a:cubicBezTo>
                    <a:pt x="2018170" y="844427"/>
                    <a:pt x="2013912" y="854707"/>
                    <a:pt x="2006333" y="862286"/>
                  </a:cubicBezTo>
                  <a:cubicBezTo>
                    <a:pt x="1998754" y="869865"/>
                    <a:pt x="1988475" y="874123"/>
                    <a:pt x="1977757" y="874123"/>
                  </a:cubicBezTo>
                  <a:lnTo>
                    <a:pt x="40413" y="874123"/>
                  </a:lnTo>
                  <a:cubicBezTo>
                    <a:pt x="29695" y="874123"/>
                    <a:pt x="19416" y="869865"/>
                    <a:pt x="11837" y="862286"/>
                  </a:cubicBezTo>
                  <a:cubicBezTo>
                    <a:pt x="4258" y="854707"/>
                    <a:pt x="0" y="844427"/>
                    <a:pt x="0" y="833709"/>
                  </a:cubicBezTo>
                  <a:lnTo>
                    <a:pt x="0" y="40413"/>
                  </a:lnTo>
                  <a:cubicBezTo>
                    <a:pt x="0" y="29695"/>
                    <a:pt x="4258" y="19416"/>
                    <a:pt x="11837" y="11837"/>
                  </a:cubicBezTo>
                  <a:cubicBezTo>
                    <a:pt x="19416" y="4258"/>
                    <a:pt x="29695" y="0"/>
                    <a:pt x="40413" y="0"/>
                  </a:cubicBezTo>
                  <a:close/>
                </a:path>
              </a:pathLst>
            </a:custGeom>
            <a:solidFill>
              <a:srgbClr val="E7E7E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018170" cy="92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66120" y="6445871"/>
            <a:ext cx="6386518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Redirect-chain analysis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Certificate and WHOIS features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Larger and fresher dataset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E0E0E"/>
                </a:solidFill>
                <a:latin typeface="Aileron"/>
                <a:ea typeface="Aileron"/>
                <a:cs typeface="Aileron"/>
                <a:sym typeface="Aileron"/>
              </a:rPr>
              <a:t>• Better privacy controls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66120" y="5796867"/>
            <a:ext cx="574388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E0E0E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Works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84" y="3775969"/>
            <a:ext cx="7804553" cy="352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068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The</a:t>
            </a:r>
            <a:r>
              <a:rPr lang="en-US" sz="4068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 project demonstrates a real-time malicious URL detection prototype using a Chrome extension and machine learning backend.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31783" y="1023938"/>
            <a:ext cx="18551567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171426" y="371475"/>
            <a:ext cx="638645" cy="365769"/>
          </a:xfrm>
          <a:custGeom>
            <a:avLst/>
            <a:gdLst/>
            <a:ahLst/>
            <a:cxnLst/>
            <a:rect r="r" b="b" t="t" l="l"/>
            <a:pathLst>
              <a:path h="365769" w="638645">
                <a:moveTo>
                  <a:pt x="0" y="0"/>
                </a:moveTo>
                <a:lnTo>
                  <a:pt x="638645" y="0"/>
                </a:lnTo>
                <a:lnTo>
                  <a:pt x="638645" y="365769"/>
                </a:lnTo>
                <a:lnTo>
                  <a:pt x="0" y="3657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0624" y="3163583"/>
            <a:ext cx="17284848" cy="323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50"/>
              </a:lnSpc>
            </a:pPr>
            <a:r>
              <a:rPr lang="en-US" sz="18893" spc="-166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Thank You!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7929" y="323850"/>
            <a:ext cx="37660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Multimedia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DAHOHQuNk80</dc:identifier>
  <dcterms:modified xsi:type="dcterms:W3CDTF">2011-08-01T06:04:30Z</dcterms:modified>
  <cp:revision>1</cp:revision>
  <dc:title>FYP2 Presentation</dc:title>
</cp:coreProperties>
</file>